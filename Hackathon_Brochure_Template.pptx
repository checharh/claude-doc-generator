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058400" cx="7772400"/>
  <p:notesSz cx="10058400" cy="7772400"/>
  <p:embeddedFontLst>
    <p:embeddedFont>
      <p:font typeface="Manrope SemiBold"/>
      <p:regular r:id="rId11"/>
      <p:bold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Manrope"/>
      <p:regular r:id="rId17"/>
      <p:bold r:id="rId18"/>
    </p:embeddedFont>
    <p:embeddedFont>
      <p:font typeface="Barlow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bold.fntdata"/><Relationship Id="rId11" Type="http://schemas.openxmlformats.org/officeDocument/2006/relationships/font" Target="fonts/ManropeSemiBold-regular.fntdata"/><Relationship Id="rId22" Type="http://schemas.openxmlformats.org/officeDocument/2006/relationships/font" Target="fonts/Barlow-boldItalic.fntdata"/><Relationship Id="rId10" Type="http://schemas.openxmlformats.org/officeDocument/2006/relationships/slide" Target="slides/slide6.xml"/><Relationship Id="rId21" Type="http://schemas.openxmlformats.org/officeDocument/2006/relationships/font" Target="fonts/Barlow-italic.fntdata"/><Relationship Id="rId13" Type="http://schemas.openxmlformats.org/officeDocument/2006/relationships/font" Target="fonts/Inter-regular.fntdata"/><Relationship Id="rId12" Type="http://schemas.openxmlformats.org/officeDocument/2006/relationships/font" Target="fonts/Manrope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Manrope-regular.fntdata"/><Relationship Id="rId16" Type="http://schemas.openxmlformats.org/officeDocument/2006/relationships/font" Target="fonts/Inter-boldItalic.fntdata"/><Relationship Id="rId5" Type="http://schemas.openxmlformats.org/officeDocument/2006/relationships/slide" Target="slides/slide1.xml"/><Relationship Id="rId19" Type="http://schemas.openxmlformats.org/officeDocument/2006/relationships/font" Target="fonts/Barlow-regular.fntdata"/><Relationship Id="rId6" Type="http://schemas.openxmlformats.org/officeDocument/2006/relationships/slide" Target="slides/slide2.xml"/><Relationship Id="rId18" Type="http://schemas.openxmlformats.org/officeDocument/2006/relationships/font" Target="fonts/Manrop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d4db5041_0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5d4db5041_0_3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5d4db5041_0_3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25" y="932225"/>
            <a:ext cx="7772400" cy="3607200"/>
          </a:xfrm>
          <a:prstGeom prst="rect">
            <a:avLst/>
          </a:prstGeom>
          <a:solidFill>
            <a:srgbClr val="090E1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" title="CodeRoad-logo-RGB-horiz-fullcolor.png"/>
          <p:cNvPicPr preferRelativeResize="0"/>
          <p:nvPr/>
        </p:nvPicPr>
        <p:blipFill rotWithShape="1">
          <a:blip r:embed="rId2">
            <a:alphaModFix/>
          </a:blip>
          <a:srcRect b="6056" l="0" r="0" t="6056"/>
          <a:stretch/>
        </p:blipFill>
        <p:spPr>
          <a:xfrm>
            <a:off x="437197" y="351219"/>
            <a:ext cx="2292623" cy="31975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1" type="body"/>
          </p:nvPr>
        </p:nvSpPr>
        <p:spPr>
          <a:xfrm>
            <a:off x="437198" y="5650489"/>
            <a:ext cx="56745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5000"/>
              <a:buNone/>
              <a:defRPr b="1" i="0" sz="5000">
                <a:solidFill>
                  <a:srgbClr val="141B2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2" type="body"/>
          </p:nvPr>
        </p:nvSpPr>
        <p:spPr>
          <a:xfrm>
            <a:off x="437198" y="8852698"/>
            <a:ext cx="56745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1200"/>
              <a:buNone/>
              <a:defRPr sz="1200">
                <a:solidFill>
                  <a:srgbClr val="141B2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3" type="body"/>
          </p:nvPr>
        </p:nvSpPr>
        <p:spPr>
          <a:xfrm>
            <a:off x="437198" y="7280606"/>
            <a:ext cx="5674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3000"/>
              <a:buNone/>
              <a:defRPr i="0" sz="3000">
                <a:solidFill>
                  <a:srgbClr val="141B2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2" title="collage-2-fpo.png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4686325" y="1181150"/>
            <a:ext cx="3086100" cy="2053200"/>
          </a:xfrm>
          <a:prstGeom prst="roundRect">
            <a:avLst>
              <a:gd fmla="val 9668" name="adj"/>
            </a:avLst>
          </a:prstGeom>
          <a:solidFill>
            <a:srgbClr val="090E14"/>
          </a:solidFill>
          <a:ln>
            <a:noFill/>
          </a:ln>
        </p:spPr>
      </p:pic>
      <p:pic>
        <p:nvPicPr>
          <p:cNvPr id="25" name="Google Shape;25;p2" title="Collage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8250" y="2253300"/>
            <a:ext cx="2775900" cy="2775900"/>
          </a:xfrm>
          <a:prstGeom prst="ellipse">
            <a:avLst/>
          </a:prstGeom>
          <a:solidFill>
            <a:srgbClr val="090E14"/>
          </a:solidFill>
          <a:ln>
            <a:noFill/>
          </a:ln>
        </p:spPr>
      </p:pic>
      <p:pic>
        <p:nvPicPr>
          <p:cNvPr id="26" name="Google Shape;26;p2" title="collage-1-fpo.png"/>
          <p:cNvPicPr preferRelativeResize="0"/>
          <p:nvPr/>
        </p:nvPicPr>
        <p:blipFill rotWithShape="1">
          <a:blip r:embed="rId5">
            <a:alphaModFix/>
          </a:blip>
          <a:srcRect b="0" l="4987" r="4987" t="0"/>
          <a:stretch/>
        </p:blipFill>
        <p:spPr>
          <a:xfrm>
            <a:off x="0" y="1181150"/>
            <a:ext cx="3002400" cy="2053200"/>
          </a:xfrm>
          <a:prstGeom prst="roundRect">
            <a:avLst>
              <a:gd fmla="val 9668" name="adj"/>
            </a:avLst>
          </a:prstGeom>
          <a:solidFill>
            <a:srgbClr val="090E14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 1">
  <p:cSld name="7_Custom Layout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5" y="932225"/>
            <a:ext cx="7772400" cy="3607200"/>
          </a:xfrm>
          <a:prstGeom prst="rect">
            <a:avLst/>
          </a:prstGeom>
          <a:solidFill>
            <a:srgbClr val="090E1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3" title="CodeRoad-logo-RGB-horiz-fullcolor.png"/>
          <p:cNvPicPr preferRelativeResize="0"/>
          <p:nvPr/>
        </p:nvPicPr>
        <p:blipFill rotWithShape="1">
          <a:blip r:embed="rId2">
            <a:alphaModFix/>
          </a:blip>
          <a:srcRect b="6056" l="0" r="0" t="6056"/>
          <a:stretch/>
        </p:blipFill>
        <p:spPr>
          <a:xfrm>
            <a:off x="437197" y="351219"/>
            <a:ext cx="2292623" cy="319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37198" y="5650489"/>
            <a:ext cx="56745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5000"/>
              <a:buNone/>
              <a:defRPr b="1" i="0" sz="5000">
                <a:solidFill>
                  <a:srgbClr val="141B2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3825"/>
              <a:buNone/>
              <a:defRPr b="1" i="0" sz="3825">
                <a:solidFill>
                  <a:srgbClr val="141B2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>
                <a:solidFill>
                  <a:srgbClr val="141B21"/>
                </a:solidFill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2" type="body"/>
          </p:nvPr>
        </p:nvSpPr>
        <p:spPr>
          <a:xfrm>
            <a:off x="437198" y="8852698"/>
            <a:ext cx="56745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1200"/>
              <a:buNone/>
              <a:defRPr sz="1200">
                <a:solidFill>
                  <a:srgbClr val="141B2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141B2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3" type="body"/>
          </p:nvPr>
        </p:nvSpPr>
        <p:spPr>
          <a:xfrm>
            <a:off x="437198" y="7280606"/>
            <a:ext cx="5674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141B21"/>
              </a:buClr>
              <a:buSzPts val="3000"/>
              <a:buNone/>
              <a:defRPr i="0" sz="3000">
                <a:solidFill>
                  <a:srgbClr val="141B2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3825"/>
              <a:buNone/>
              <a:defRPr b="1" i="0" sz="3825"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36" name="Google Shape;36;p3" title="collage-2-fpo.png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4686325" y="1181150"/>
            <a:ext cx="3086100" cy="2053200"/>
          </a:xfrm>
          <a:prstGeom prst="roundRect">
            <a:avLst>
              <a:gd fmla="val 9668" name="adj"/>
            </a:avLst>
          </a:prstGeom>
          <a:solidFill>
            <a:srgbClr val="090E14"/>
          </a:solidFill>
          <a:ln>
            <a:noFill/>
          </a:ln>
        </p:spPr>
      </p:pic>
      <p:pic>
        <p:nvPicPr>
          <p:cNvPr id="37" name="Google Shape;37;p3" title="Gemini_Generated_Image_jq3pvgjq3pvgjq3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8250" y="2253300"/>
            <a:ext cx="2775900" cy="2775900"/>
          </a:xfrm>
          <a:prstGeom prst="ellipse">
            <a:avLst/>
          </a:prstGeom>
          <a:solidFill>
            <a:srgbClr val="090E14"/>
          </a:solidFill>
          <a:ln>
            <a:noFill/>
          </a:ln>
        </p:spPr>
      </p:pic>
      <p:pic>
        <p:nvPicPr>
          <p:cNvPr id="38" name="Google Shape;38;p3" title="collage-1-fpo.png"/>
          <p:cNvPicPr preferRelativeResize="0"/>
          <p:nvPr/>
        </p:nvPicPr>
        <p:blipFill rotWithShape="1">
          <a:blip r:embed="rId5">
            <a:alphaModFix/>
          </a:blip>
          <a:srcRect b="0" l="4987" r="4987" t="0"/>
          <a:stretch/>
        </p:blipFill>
        <p:spPr>
          <a:xfrm>
            <a:off x="0" y="1181150"/>
            <a:ext cx="3002400" cy="2053200"/>
          </a:xfrm>
          <a:prstGeom prst="roundRect">
            <a:avLst>
              <a:gd fmla="val 9668" name="adj"/>
            </a:avLst>
          </a:prstGeom>
          <a:solidFill>
            <a:srgbClr val="090E14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>
            <p:ph idx="2" type="pic"/>
          </p:nvPr>
        </p:nvSpPr>
        <p:spPr>
          <a:xfrm>
            <a:off x="5197800" y="-68275"/>
            <a:ext cx="2623200" cy="94947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306387" y="1535293"/>
            <a:ext cx="4584900" cy="7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  <a:defRPr/>
            </a:lvl1pPr>
            <a:lvl2pPr indent="-35814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indent="-325755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Char char="•"/>
              <a:defRPr/>
            </a:lvl4pPr>
            <a:lvl5pPr indent="-325755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3" type="body"/>
          </p:nvPr>
        </p:nvSpPr>
        <p:spPr>
          <a:xfrm>
            <a:off x="340995" y="566739"/>
            <a:ext cx="44673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i="0" sz="3000"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6" name="Google Shape;46;p4"/>
          <p:cNvSpPr/>
          <p:nvPr/>
        </p:nvSpPr>
        <p:spPr>
          <a:xfrm>
            <a:off x="-51200" y="9426400"/>
            <a:ext cx="7872300" cy="6570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4" title="CodeRoad-logo-RGB-horiz-fullcolor-inverted.png"/>
          <p:cNvPicPr preferRelativeResize="0"/>
          <p:nvPr/>
        </p:nvPicPr>
        <p:blipFill rotWithShape="1">
          <a:blip r:embed="rId2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90500" y="-61450"/>
            <a:ext cx="2623200" cy="100698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5489258" y="566803"/>
            <a:ext cx="19764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Barlow"/>
              <a:buNone/>
              <a:defRPr sz="255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306387" y="1535293"/>
            <a:ext cx="4584900" cy="7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indent="-35814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2pPr>
            <a:lvl3pPr indent="-33655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3pPr>
            <a:lvl4pPr indent="-325755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4pPr>
            <a:lvl5pPr indent="-325755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5489575" y="2379663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4400"/>
              <a:buNone/>
              <a:defRPr b="1" sz="4400"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3" type="body"/>
          </p:nvPr>
        </p:nvSpPr>
        <p:spPr>
          <a:xfrm>
            <a:off x="5489575" y="3119251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4" type="body"/>
          </p:nvPr>
        </p:nvSpPr>
        <p:spPr>
          <a:xfrm>
            <a:off x="5489575" y="3805051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4400"/>
              <a:buNone/>
              <a:defRPr b="1" sz="4400"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5" type="body"/>
          </p:nvPr>
        </p:nvSpPr>
        <p:spPr>
          <a:xfrm>
            <a:off x="5489575" y="4544639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6" type="body"/>
          </p:nvPr>
        </p:nvSpPr>
        <p:spPr>
          <a:xfrm>
            <a:off x="5489575" y="5230439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4400"/>
              <a:buNone/>
              <a:defRPr b="1" sz="4400"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7" type="body"/>
          </p:nvPr>
        </p:nvSpPr>
        <p:spPr>
          <a:xfrm>
            <a:off x="5489575" y="5970027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8" type="body"/>
          </p:nvPr>
        </p:nvSpPr>
        <p:spPr>
          <a:xfrm>
            <a:off x="5489575" y="6642380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4400"/>
              <a:buNone/>
              <a:defRPr b="1" sz="4400"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9" type="body"/>
          </p:nvPr>
        </p:nvSpPr>
        <p:spPr>
          <a:xfrm>
            <a:off x="5489575" y="7381968"/>
            <a:ext cx="1976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28600" lvl="2" marL="13716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28600" lvl="3" marL="18288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28600" lvl="4" marL="2286000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None/>
              <a:defRPr>
                <a:solidFill>
                  <a:srgbClr val="9408F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3" type="body"/>
          </p:nvPr>
        </p:nvSpPr>
        <p:spPr>
          <a:xfrm>
            <a:off x="340995" y="566739"/>
            <a:ext cx="44673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i="0" sz="3000"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4" name="Google Shape;64;p5"/>
          <p:cNvSpPr/>
          <p:nvPr/>
        </p:nvSpPr>
        <p:spPr>
          <a:xfrm>
            <a:off x="-40975" y="9426400"/>
            <a:ext cx="7854600" cy="6729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title="CodeRoad-logo-RGB-horiz-fullcolor-inverted.png"/>
          <p:cNvPicPr preferRelativeResize="0"/>
          <p:nvPr/>
        </p:nvPicPr>
        <p:blipFill rotWithShape="1">
          <a:blip r:embed="rId3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-40975" y="9426400"/>
            <a:ext cx="7855800" cy="6570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306646" y="1549216"/>
            <a:ext cx="7077000" cy="6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2380"/>
              <a:buChar char="•"/>
              <a:defRPr/>
            </a:lvl1pPr>
            <a:lvl2pPr indent="-35814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Char char="•"/>
              <a:defRPr/>
            </a:lvl3pPr>
            <a:lvl4pPr indent="-325755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/>
            </a:lvl4pPr>
            <a:lvl5pPr indent="-325755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body"/>
          </p:nvPr>
        </p:nvSpPr>
        <p:spPr>
          <a:xfrm>
            <a:off x="340995" y="566739"/>
            <a:ext cx="44673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i="0" sz="3000"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73" name="Google Shape;73;p6" title="CodeRoad-logo-RGB-horiz-fullcolor-inverted.png"/>
          <p:cNvPicPr preferRelativeResize="0"/>
          <p:nvPr/>
        </p:nvPicPr>
        <p:blipFill rotWithShape="1">
          <a:blip r:embed="rId2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>
            <p:ph idx="2" type="pic"/>
          </p:nvPr>
        </p:nvSpPr>
        <p:spPr>
          <a:xfrm>
            <a:off x="-13600" y="0"/>
            <a:ext cx="7772400" cy="21369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7"/>
          <p:cNvSpPr/>
          <p:nvPr/>
        </p:nvSpPr>
        <p:spPr>
          <a:xfrm>
            <a:off x="-13600" y="5975150"/>
            <a:ext cx="7853400" cy="1565100"/>
          </a:xfrm>
          <a:prstGeom prst="rect">
            <a:avLst/>
          </a:prstGeom>
          <a:solidFill>
            <a:srgbClr val="141B21"/>
          </a:solidFill>
          <a:ln cap="flat" cmpd="sng" w="9525">
            <a:solidFill>
              <a:srgbClr val="141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639700" y="5614400"/>
            <a:ext cx="2286600" cy="2286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340995" y="566739"/>
            <a:ext cx="44673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i="0" sz="3000"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306646" y="1549216"/>
            <a:ext cx="7077000" cy="23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2380"/>
              <a:buChar char="•"/>
              <a:defRPr/>
            </a:lvl1pPr>
            <a:lvl2pPr indent="-35814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Char char="•"/>
              <a:defRPr/>
            </a:lvl3pPr>
            <a:lvl4pPr indent="-325755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/>
            </a:lvl4pPr>
            <a:lvl5pPr indent="-325755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>
            <a:off x="-40975" y="9426400"/>
            <a:ext cx="7855800" cy="7062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8" title="CodeRoad-logo-RGB-horiz-fullcolor-inverted.png"/>
          <p:cNvPicPr preferRelativeResize="0"/>
          <p:nvPr/>
        </p:nvPicPr>
        <p:blipFill rotWithShape="1">
          <a:blip r:embed="rId2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9"/>
          <p:cNvPicPr preferRelativeResize="0"/>
          <p:nvPr/>
        </p:nvPicPr>
        <p:blipFill rotWithShape="1">
          <a:blip r:embed="rId2">
            <a:alphaModFix/>
          </a:blip>
          <a:srcRect b="0" l="18069" r="9409" t="0"/>
          <a:stretch/>
        </p:blipFill>
        <p:spPr>
          <a:xfrm flipH="1">
            <a:off x="-81928" y="1283025"/>
            <a:ext cx="7897053" cy="82146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/>
          <p:nvPr>
            <p:ph idx="2" type="pic"/>
          </p:nvPr>
        </p:nvSpPr>
        <p:spPr>
          <a:xfrm>
            <a:off x="678062" y="4243223"/>
            <a:ext cx="1360500" cy="1323900"/>
          </a:xfrm>
          <a:prstGeom prst="ellipse">
            <a:avLst/>
          </a:prstGeom>
          <a:noFill/>
          <a:ln cap="flat" cmpd="sng" w="19050">
            <a:solidFill>
              <a:srgbClr val="9408F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"/>
          <p:cNvSpPr/>
          <p:nvPr>
            <p:ph idx="3" type="pic"/>
          </p:nvPr>
        </p:nvSpPr>
        <p:spPr>
          <a:xfrm>
            <a:off x="3223130" y="4243223"/>
            <a:ext cx="1360500" cy="1323900"/>
          </a:xfrm>
          <a:prstGeom prst="ellipse">
            <a:avLst/>
          </a:prstGeom>
          <a:noFill/>
          <a:ln cap="flat" cmpd="sng" w="19050">
            <a:solidFill>
              <a:srgbClr val="9408F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5768198" y="4243223"/>
            <a:ext cx="1360500" cy="1323900"/>
          </a:xfrm>
          <a:prstGeom prst="ellipse">
            <a:avLst/>
          </a:prstGeom>
          <a:noFill/>
          <a:ln cap="flat" cmpd="sng" w="19050">
            <a:solidFill>
              <a:srgbClr val="9408F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"/>
          <p:cNvSpPr/>
          <p:nvPr/>
        </p:nvSpPr>
        <p:spPr>
          <a:xfrm>
            <a:off x="-81925" y="9426400"/>
            <a:ext cx="7905600" cy="7164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340995" y="566739"/>
            <a:ext cx="44673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i="0" sz="3000"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96" name="Google Shape;96;p9" title="CodeRoad-logo-RGB-horiz-fullcolor-inverted.png"/>
          <p:cNvPicPr preferRelativeResize="0"/>
          <p:nvPr/>
        </p:nvPicPr>
        <p:blipFill rotWithShape="1">
          <a:blip r:embed="rId3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2">
            <a:alphaModFix/>
          </a:blip>
          <a:srcRect b="0" l="12252" r="36232" t="0"/>
          <a:stretch/>
        </p:blipFill>
        <p:spPr>
          <a:xfrm>
            <a:off x="-40975" y="0"/>
            <a:ext cx="7855574" cy="10058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/>
          <p:nvPr/>
        </p:nvSpPr>
        <p:spPr>
          <a:xfrm>
            <a:off x="0" y="9426388"/>
            <a:ext cx="7772400" cy="632100"/>
          </a:xfrm>
          <a:prstGeom prst="rect">
            <a:avLst/>
          </a:prstGeom>
          <a:solidFill>
            <a:srgbClr val="141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306646" y="1549216"/>
            <a:ext cx="7077000" cy="6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9408F6"/>
              </a:buClr>
              <a:buSzPts val="2380"/>
              <a:buChar char="•"/>
              <a:defRPr>
                <a:solidFill>
                  <a:schemeClr val="lt1"/>
                </a:solidFill>
              </a:defRPr>
            </a:lvl1pPr>
            <a:lvl2pPr indent="-35814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2040"/>
              <a:buChar char="•"/>
              <a:defRPr>
                <a:solidFill>
                  <a:schemeClr val="lt1"/>
                </a:solidFill>
              </a:defRPr>
            </a:lvl2pPr>
            <a:lvl3pPr indent="-33655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700"/>
              <a:buChar char="•"/>
              <a:defRPr>
                <a:solidFill>
                  <a:schemeClr val="lt1"/>
                </a:solidFill>
              </a:defRPr>
            </a:lvl3pPr>
            <a:lvl4pPr indent="-325755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>
                <a:solidFill>
                  <a:schemeClr val="lt1"/>
                </a:solidFill>
              </a:defRPr>
            </a:lvl4pPr>
            <a:lvl5pPr indent="-325755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9408F6"/>
              </a:buClr>
              <a:buSzPts val="153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2" type="body"/>
          </p:nvPr>
        </p:nvSpPr>
        <p:spPr>
          <a:xfrm>
            <a:off x="340995" y="566739"/>
            <a:ext cx="7042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i="0" sz="3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105" name="Google Shape;105;p10" title="CodeRoad-logo-RGB-horiz-fullcolor-inverted.png"/>
          <p:cNvPicPr preferRelativeResize="0"/>
          <p:nvPr/>
        </p:nvPicPr>
        <p:blipFill rotWithShape="1">
          <a:blip r:embed="rId3">
            <a:alphaModFix/>
          </a:blip>
          <a:srcRect b="1532" l="0" r="0" t="1522"/>
          <a:stretch/>
        </p:blipFill>
        <p:spPr>
          <a:xfrm>
            <a:off x="341000" y="9627237"/>
            <a:ext cx="1659484" cy="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0"/>
              <a:buFont typeface="Manrope SemiBold"/>
              <a:buNone/>
              <a:defRPr i="0" sz="374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4353" y="2677584"/>
            <a:ext cx="6703800" cy="6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marR="0" rtl="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Inter"/>
              <a:buChar char="•"/>
              <a:defRPr i="0" sz="238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8140" lvl="1" marL="9144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Inter"/>
              <a:buChar char="•"/>
              <a:defRPr i="0" sz="204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•"/>
              <a:defRPr i="0" sz="1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25755" lvl="3" marL="18288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25755" lvl="4" marL="22860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25755" lvl="5" marL="27432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25755" lvl="6" marL="32004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25755" lvl="7" marL="36576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25755" lvl="8" marL="4114800" marR="0" rtl="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Inter"/>
              <a:buChar char="•"/>
              <a:defRPr i="0" sz="153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2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/>
          <p:nvPr/>
        </p:nvSpPr>
        <p:spPr>
          <a:xfrm>
            <a:off x="340075" y="508710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 Agent Name ]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340075" y="6321540"/>
            <a:ext cx="6858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One-line tagline: what fragmented process this agent transforms, and into what outcome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340075" y="741882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Header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340075" y="778458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/ Participants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340075" y="8040612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names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3906235" y="778458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3906235" y="8040612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date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340075" y="847038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340075" y="8726412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draft / ready for review / final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3906235" y="847038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/ Track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3906235" y="8726412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e.g., Retail, Supply Chain, Finance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40075" y="9156185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Fill in every bracketed [ ] prompt before presenting. Keep this page to a single powerful sentence — save detail for later slides.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340075" y="975054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Section 1–2: Project Header · Tagline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449350" y="2230600"/>
            <a:ext cx="2873700" cy="2778000"/>
          </a:xfrm>
          <a:prstGeom prst="ellipse">
            <a:avLst/>
          </a:prstGeom>
          <a:solidFill>
            <a:srgbClr val="9454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[Your logo goes here]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57200" y="1143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57200" y="1463040"/>
            <a:ext cx="6858000" cy="2286000"/>
          </a:xfrm>
          <a:prstGeom prst="roundRect">
            <a:avLst>
              <a:gd fmla="val 3200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594360" y="1554480"/>
            <a:ext cx="6583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What's broken today for the target users? Why is the current process slow, manual, or costly — and why don't existing tools solve it? Aim for 3–5 sentences that a non-technical reviewer can follow.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57200" y="39776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Who </a:t>
            </a:r>
            <a:r>
              <a:rPr b="1" lang="en-US" sz="1200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is it</a:t>
            </a: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57200" y="4297680"/>
            <a:ext cx="6858000" cy="1280160"/>
          </a:xfrm>
          <a:prstGeom prst="roundRect">
            <a:avLst>
              <a:gd fmla="val 5714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594360" y="4389120"/>
            <a:ext cx="6583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List the specific roles, teams, or industries that will use this agent (e.g., "Supply Chain Directors", "Category Managers") — not just "everyone." One line per persona is fine.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57200" y="576072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566928" y="589788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B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1B94"/>
                </a:solidFill>
                <a:latin typeface="Calibri"/>
                <a:ea typeface="Calibri"/>
                <a:cs typeface="Calibri"/>
                <a:sym typeface="Calibri"/>
              </a:rPr>
              <a:t>[ Persona 1 ]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566950" y="6263650"/>
            <a:ext cx="1883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what they need from the agent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2834640" y="576072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2944368" y="589788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B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1B94"/>
                </a:solidFill>
                <a:latin typeface="Calibri"/>
                <a:ea typeface="Calibri"/>
                <a:cs typeface="Calibri"/>
                <a:sym typeface="Calibri"/>
              </a:rPr>
              <a:t>[ Persona 2 ]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2944368" y="6263640"/>
            <a:ext cx="1883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what they need from the agent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212080" y="576072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5321808" y="589788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B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1B94"/>
                </a:solidFill>
                <a:latin typeface="Calibri"/>
                <a:ea typeface="Calibri"/>
                <a:cs typeface="Calibri"/>
                <a:sym typeface="Calibri"/>
              </a:rPr>
              <a:t>[ Persona 3 ]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5321808" y="6263640"/>
            <a:ext cx="1883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what they need from the agent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57200" y="7360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Guidance: reviewers judge feasibility on whether the problem is specific and the audience is named — avoid generic statements.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61875" y="914399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Section 3–4: The Problem · Who It's 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6400800" y="9646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457200" y="502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0E14"/>
                </a:solidFill>
                <a:latin typeface="Cambria"/>
                <a:ea typeface="Cambria"/>
                <a:cs typeface="Cambria"/>
                <a:sym typeface="Cambria"/>
              </a:rPr>
              <a:t>Architecture &amp; </a:t>
            </a:r>
            <a:r>
              <a:rPr b="1" i="0" lang="en-US" sz="22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How It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57200" y="1143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How It Works — Core Capabilities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457200" y="146304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Capability 1: name + one-line description of what it does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Capability 2: name + one-line description of what it does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Capability 3: name + one-line description of what it does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457200" y="3063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365750" y="681228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Fill each box below with the actual component used in your build.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65750" y="7091265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365750" y="7411305"/>
            <a:ext cx="3291900" cy="640200"/>
          </a:xfrm>
          <a:prstGeom prst="roundRect">
            <a:avLst>
              <a:gd fmla="val 8571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475478" y="7466169"/>
            <a:ext cx="3072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Model / LLM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475478" y="7722201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e.g., Gemini, Claude, GPT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3931910" y="7411305"/>
            <a:ext cx="3291900" cy="640200"/>
          </a:xfrm>
          <a:prstGeom prst="roundRect">
            <a:avLst>
              <a:gd fmla="val 8571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4041638" y="7466169"/>
            <a:ext cx="3072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Data Source(s)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4041638" y="7722201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e.g., BigQuery, Postgres, CRM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65750" y="8188545"/>
            <a:ext cx="3291900" cy="640200"/>
          </a:xfrm>
          <a:prstGeom prst="roundRect">
            <a:avLst>
              <a:gd fmla="val 8571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475478" y="8243409"/>
            <a:ext cx="3072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Tools / Integrations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475478" y="8499441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e.g., MCP servers, APIs, retrieval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931910" y="8188545"/>
            <a:ext cx="3291900" cy="640200"/>
          </a:xfrm>
          <a:prstGeom prst="roundRect">
            <a:avLst>
              <a:gd fmla="val 8571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4041638" y="8243409"/>
            <a:ext cx="3072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Hosting / Runtime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041638" y="8499441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e.g., Cloud Run, ADK, local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365750" y="909827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Section 5–6: How It Works ·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6400800" y="9646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457200" y="3411401"/>
            <a:ext cx="6858000" cy="3126600"/>
          </a:xfrm>
          <a:prstGeom prst="roundRect">
            <a:avLst>
              <a:gd fmla="val 3125" name="adj"/>
            </a:avLst>
          </a:prstGeom>
          <a:solidFill>
            <a:srgbClr val="F6F1FC"/>
          </a:solidFill>
          <a:ln cap="flat" cmpd="sng" w="19050">
            <a:solidFill>
              <a:srgbClr val="E4DCF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[Add a diagram of the </a:t>
            </a:r>
            <a:r>
              <a:rPr i="1" lang="en-US" sz="1000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architecture of the solution]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/>
          <p:nvPr/>
        </p:nvSpPr>
        <p:spPr>
          <a:xfrm>
            <a:off x="457200" y="502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0E14"/>
                </a:solidFill>
                <a:latin typeface="Cambria"/>
                <a:ea typeface="Cambria"/>
                <a:cs typeface="Cambria"/>
                <a:sym typeface="Cambria"/>
              </a:rPr>
              <a:t>An Accelerated </a:t>
            </a:r>
            <a:r>
              <a:rPr b="1" i="0" lang="en-US" sz="22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Execution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457200" y="1143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Problems It Solves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457200" y="146304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Blocker name ]: [ how the agent removes it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Blocker name ]: [ how the agent removes it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Blocker name ]: [ how the agent removes it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457200" y="3063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Expected Impact — Business Impact by the Numbers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457200" y="338328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0B0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548640" y="3520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[ XX%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566928" y="41605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metric it improves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2834640" y="338328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0B0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2926080" y="3520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[ XX%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2944368" y="41605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metric it improves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5212080" y="3383280"/>
            <a:ext cx="2103120" cy="1371600"/>
          </a:xfrm>
          <a:prstGeom prst="roundRect">
            <a:avLst>
              <a:gd fmla="val 5333" name="adj"/>
            </a:avLst>
          </a:prstGeom>
          <a:solidFill>
            <a:srgbClr val="0B0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5303520" y="3520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[ XX%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5321808" y="416052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metric it improves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57200" y="4892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Label each figure as measured or estimated.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57200" y="5349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Success Metrics (KPIs)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457200" y="5669280"/>
            <a:ext cx="6858000" cy="777240"/>
          </a:xfrm>
          <a:prstGeom prst="roundRect">
            <a:avLst>
              <a:gd fmla="val 7059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594360" y="574243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B9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A1B94"/>
                </a:solidFill>
                <a:latin typeface="Calibri"/>
                <a:ea typeface="Calibri"/>
                <a:cs typeface="Calibri"/>
                <a:sym typeface="Calibri"/>
              </a:rPr>
              <a:t>[ KPI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594360" y="603504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Formula: [ how it's calculated ]   ·   Target: [ goal number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57200" y="6583680"/>
            <a:ext cx="6858000" cy="777240"/>
          </a:xfrm>
          <a:prstGeom prst="roundRect">
            <a:avLst>
              <a:gd fmla="val 7059" name="adj"/>
            </a:avLst>
          </a:prstGeom>
          <a:solidFill>
            <a:srgbClr val="F6F1FC"/>
          </a:solidFill>
          <a:ln cap="flat" cmpd="sng" w="12700">
            <a:solidFill>
              <a:srgbClr val="E4D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594360" y="665683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B9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A1B94"/>
                </a:solidFill>
                <a:latin typeface="Calibri"/>
                <a:ea typeface="Calibri"/>
                <a:cs typeface="Calibri"/>
                <a:sym typeface="Calibri"/>
              </a:rPr>
              <a:t>[ KPI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594360" y="694944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Formula: [ how it's calculated ]   ·   Target: [ goal number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384000" y="905257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Section 7–9: Problems Solved · Impact · KPIs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400800" y="9646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457200" y="502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0E14"/>
                </a:solidFill>
                <a:latin typeface="Cambria"/>
                <a:ea typeface="Cambria"/>
                <a:cs typeface="Cambria"/>
                <a:sym typeface="Cambria"/>
              </a:rPr>
              <a:t>Demo, Evidence &amp; </a:t>
            </a:r>
            <a:r>
              <a:rPr b="1" i="0" lang="en-US" sz="22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457200" y="1143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Demo /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457200" y="1463040"/>
            <a:ext cx="6858000" cy="2926080"/>
          </a:xfrm>
          <a:prstGeom prst="roundRect">
            <a:avLst>
              <a:gd fmla="val 3125" name="adj"/>
            </a:avLst>
          </a:prstGeom>
          <a:solidFill>
            <a:srgbClr val="F6F1FC"/>
          </a:solidFill>
          <a:ln cap="flat" cmpd="sng" w="19050">
            <a:solidFill>
              <a:srgbClr val="E4DCF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457200" y="2377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Insert screenshot, GIF, or video link of the agent in action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457200" y="2834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[ Sample interaction: "User asked ___ → Agent responded ___"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Assumptions &amp;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57200" y="502920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What was mocked or simulated for the hackathon (e.g., sample data instead of live feed)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What's explicitly out of scope for this version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0E1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0E14"/>
                </a:solidFill>
                <a:latin typeface="Calibri"/>
                <a:ea typeface="Calibri"/>
                <a:cs typeface="Calibri"/>
                <a:sym typeface="Calibri"/>
              </a:rPr>
              <a:t>[ Known edge cases or risks not yet handled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457200" y="6858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Being upfront here builds reviewer trust — it shows you understand the gap between prototype and production.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281500" y="90759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Section 10–11: Demo/Evidence · Assumptions &amp;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6400800" y="9646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457200" y="548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Related Docs &amp; </a:t>
            </a:r>
            <a:r>
              <a:rPr b="1" i="0" lang="en-US" sz="2400" u="none" cap="none" strike="noStrike">
                <a:solidFill>
                  <a:srgbClr val="8A2BE2"/>
                </a:solidFill>
                <a:latin typeface="Cambria"/>
                <a:ea typeface="Cambria"/>
                <a:cs typeface="Cambria"/>
                <a:sym typeface="Cambria"/>
              </a:rPr>
              <a:t>What's Next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457200" y="13716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Related Documentation &amp; Links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457200" y="173736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Repo / codebase link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8C7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Design doc / PRD link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8C7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Slide deck / demo video link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8C7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Any other supporting material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457200" y="35661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 / Call to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457200" y="3931920"/>
            <a:ext cx="6858000" cy="1463040"/>
          </a:xfrm>
          <a:prstGeom prst="roundRect">
            <a:avLst>
              <a:gd fmla="val 6250" name="adj"/>
            </a:avLst>
          </a:prstGeom>
          <a:solidFill>
            <a:srgbClr val="17101F"/>
          </a:solidFill>
          <a:ln cap="flat" cmpd="sng" w="12700">
            <a:solidFill>
              <a:srgbClr val="5A1B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640080" y="4114800"/>
            <a:ext cx="6492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What does this team need to move from prototype to production? Resources, sponsorship, data access, a pilot team, a demo slot — be specific and actionable.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57200" y="7872555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457200" y="8329445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C7F2"/>
                </a:solidFill>
                <a:latin typeface="Calibri"/>
                <a:ea typeface="Calibri"/>
                <a:cs typeface="Calibri"/>
                <a:sym typeface="Calibri"/>
              </a:rPr>
              <a:t>[ Team contact name / email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57200" y="909827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F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FAE"/>
                </a:solidFill>
                <a:latin typeface="Calibri"/>
                <a:ea typeface="Calibri"/>
                <a:cs typeface="Calibri"/>
                <a:sym typeface="Calibri"/>
              </a:rPr>
              <a:t>Section 12–13: Related Links · What's Next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6400800" y="9646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F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9FAE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